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ansalva"/>
      <p:regular r:id="rId9"/>
    </p:embeddedFont>
    <p:embeddedFont>
      <p:font typeface="Dokdo"/>
      <p:regular r:id="rId10"/>
    </p:embeddedFon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font" Target="fonts/Dokdo-regular.fntdata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ansalva-regular.fntdata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2ae9d2c3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2ae9d2c3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ae9d2c3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ae9d2c3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99300" y="224125"/>
            <a:ext cx="7745400" cy="660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180">
              <a:highlight>
                <a:srgbClr val="93C47D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>
                <a:solidFill>
                  <a:schemeClr val="lt2"/>
                </a:solidFill>
                <a:highlight>
                  <a:srgbClr val="664B3D"/>
                </a:highlight>
                <a:latin typeface="Dokdo"/>
                <a:ea typeface="Dokdo"/>
                <a:cs typeface="Dokdo"/>
                <a:sym typeface="Dokdo"/>
              </a:rPr>
              <a:t>Lindsey’s Apprenticeship Progress</a:t>
            </a:r>
            <a:endParaRPr sz="3880">
              <a:solidFill>
                <a:schemeClr val="lt2"/>
              </a:solidFill>
              <a:highlight>
                <a:srgbClr val="664B3D"/>
              </a:highlight>
              <a:latin typeface="Dokdo"/>
              <a:ea typeface="Dokdo"/>
              <a:cs typeface="Dokdo"/>
              <a:sym typeface="Dokd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78200" y="4451750"/>
            <a:ext cx="8787600" cy="5124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1130"/>
              <a:buNone/>
            </a:pPr>
            <a:r>
              <a:rPr lang="en" sz="1990">
                <a:solidFill>
                  <a:schemeClr val="lt2"/>
                </a:solidFill>
                <a:highlight>
                  <a:srgbClr val="664B3D"/>
                </a:highlight>
                <a:latin typeface="Roboto Mono"/>
                <a:ea typeface="Roboto Mono"/>
                <a:cs typeface="Roboto Mono"/>
                <a:sym typeface="Roboto Mono"/>
              </a:rPr>
              <a:t>Lindsey Trujillo ✦ Verizon Apprentice Software Engineer</a:t>
            </a:r>
            <a:endParaRPr sz="1990">
              <a:solidFill>
                <a:schemeClr val="lt2"/>
              </a:solidFill>
              <a:highlight>
                <a:srgbClr val="664B3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1130"/>
              <a:buNone/>
            </a:pPr>
            <a:r>
              <a:rPr lang="en" sz="1990">
                <a:solidFill>
                  <a:schemeClr val="lt2"/>
                </a:solidFill>
                <a:highlight>
                  <a:srgbClr val="664B3D"/>
                </a:highlight>
                <a:latin typeface="Roboto Mono"/>
                <a:ea typeface="Roboto Mono"/>
                <a:cs typeface="Roboto Mono"/>
                <a:sym typeface="Roboto Mono"/>
              </a:rPr>
              <a:t>June 2021 — June 2022</a:t>
            </a:r>
            <a:endParaRPr sz="1990">
              <a:solidFill>
                <a:schemeClr val="lt2"/>
              </a:solidFill>
              <a:highlight>
                <a:srgbClr val="664B3D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4188" y="1120304"/>
            <a:ext cx="1808625" cy="1808625"/>
          </a:xfrm>
          <a:prstGeom prst="rect">
            <a:avLst/>
          </a:prstGeom>
          <a:noFill/>
          <a:ln>
            <a:noFill/>
          </a:ln>
          <a:effectLst>
            <a:reflection blurRad="0" dir="5400000" dist="28575" endA="0" endPos="50000" fadeDir="5400012" kx="0" rotWithShape="0" algn="bl" stA="65000" stPos="0" sy="-100000" ky="0"/>
          </a:effectLst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0350" y="1120300"/>
            <a:ext cx="2094932" cy="1808625"/>
          </a:xfrm>
          <a:prstGeom prst="rect">
            <a:avLst/>
          </a:prstGeom>
          <a:noFill/>
          <a:ln>
            <a:noFill/>
          </a:ln>
          <a:effectLst>
            <a:reflection blurRad="0" dir="5400000" dist="28575" endA="0" endPos="50000" fadeDir="5400012" kx="0" rotWithShape="0" algn="bl" stA="65000" stPos="0" sy="-100000" ky="0"/>
          </a:effectLst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1731" y="1163900"/>
            <a:ext cx="1421910" cy="1721424"/>
          </a:xfrm>
          <a:prstGeom prst="rect">
            <a:avLst/>
          </a:prstGeom>
          <a:noFill/>
          <a:ln>
            <a:noFill/>
          </a:ln>
          <a:effectLst>
            <a:reflection blurRad="0" dir="5400000" dist="28575" endA="0" endPos="50000" fadeDir="5400012" kx="0" rotWithShape="0" algn="bl" stA="6500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chemeClr val="dk2"/>
                </a:solidFill>
                <a:highlight>
                  <a:schemeClr val="lt2"/>
                </a:highlight>
                <a:latin typeface="Dokdo"/>
                <a:ea typeface="Dokdo"/>
                <a:cs typeface="Dokdo"/>
                <a:sym typeface="Dokdo"/>
              </a:rPr>
              <a:t>Learnings</a:t>
            </a:r>
            <a:r>
              <a:rPr lang="en" sz="3020">
                <a:solidFill>
                  <a:schemeClr val="dk2"/>
                </a:solidFill>
                <a:highlight>
                  <a:schemeClr val="lt2"/>
                </a:highlight>
                <a:latin typeface="Dokdo"/>
                <a:ea typeface="Dokdo"/>
                <a:cs typeface="Dokdo"/>
                <a:sym typeface="Dokdo"/>
              </a:rPr>
              <a:t> </a:t>
            </a:r>
            <a:r>
              <a:rPr lang="en" sz="3020">
                <a:solidFill>
                  <a:schemeClr val="dk2"/>
                </a:solidFill>
                <a:highlight>
                  <a:schemeClr val="lt2"/>
                </a:highlight>
                <a:latin typeface="Mansalva"/>
                <a:ea typeface="Mansalva"/>
                <a:cs typeface="Mansalva"/>
                <a:sym typeface="Mansalva"/>
              </a:rPr>
              <a:t>🪴</a:t>
            </a:r>
            <a:endParaRPr sz="3020">
              <a:solidFill>
                <a:schemeClr val="dk2"/>
              </a:solidFill>
              <a:highlight>
                <a:schemeClr val="lt2"/>
              </a:highlight>
              <a:latin typeface="Mansalva"/>
              <a:ea typeface="Mansalva"/>
              <a:cs typeface="Mansalva"/>
              <a:sym typeface="Mansalva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7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495" u="sng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Multiverse: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Javascript, TDD, SQL, Sequelize, Express, Agile, Responsive Design, React.js, A11Y, RESTful design patterns, Server-Side rendering, The DOM, Auth (Basic Auth &amp; OAuth), JWTs, SDLC, Docker, GitHub Actions, OWASP</a:t>
            </a:r>
            <a:endParaRPr sz="1495">
              <a:highlight>
                <a:schemeClr val="l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 u="sng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Verizon: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Earned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Tosca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(test automation program)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certifications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levels 1 &amp; 2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, used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Jira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qTest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as a member of an Agile QA (quality assurance) testing team conducting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E2E manual testing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of </a:t>
            </a:r>
            <a:r>
              <a:rPr lang="en" sz="1495">
                <a:solidFill>
                  <a:srgbClr val="CC0000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Verizon.com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participating in daily stand-ups, grooming calls, and retrospectives as part of 2 week sprints with my team</a:t>
            </a:r>
            <a:endParaRPr sz="1495">
              <a:highlight>
                <a:schemeClr val="l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95" u="sng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Independently: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Due to my personal interest in the field, I completed a couple of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UX Research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courses on Pluralsight &amp; observed some rapid research sessions at Verizon. I completed a Java course on Treehouse, used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Vue.js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Java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for my final independent project, and am currently working towards an </a:t>
            </a:r>
            <a:r>
              <a:rPr b="1"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AWS</a:t>
            </a:r>
            <a:r>
              <a:rPr lang="en" sz="1495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 certification</a:t>
            </a:r>
            <a:endParaRPr sz="1495">
              <a:highlight>
                <a:schemeClr val="l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chemeClr val="dk2"/>
                </a:solidFill>
                <a:highlight>
                  <a:schemeClr val="lt2"/>
                </a:highlight>
                <a:latin typeface="Dokdo"/>
                <a:ea typeface="Dokdo"/>
                <a:cs typeface="Dokdo"/>
                <a:sym typeface="Dokdo"/>
              </a:rPr>
              <a:t>Personal takeaways </a:t>
            </a:r>
            <a:r>
              <a:rPr lang="en" sz="3020">
                <a:solidFill>
                  <a:schemeClr val="dk2"/>
                </a:solidFill>
                <a:highlight>
                  <a:schemeClr val="lt2"/>
                </a:highlight>
              </a:rPr>
              <a:t>🌳</a:t>
            </a:r>
            <a:endParaRPr sz="3020">
              <a:solidFill>
                <a:schemeClr val="dk2"/>
              </a:solidFill>
              <a:highlight>
                <a:schemeClr val="lt2"/>
              </a:highlight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60"/>
              <a:buFont typeface="Roboto Mono"/>
              <a:buChar char="●"/>
            </a:pPr>
            <a:r>
              <a:rPr lang="en" sz="1360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Throughout the apprenticeship I learned the value and necessity of being your own advocate and consistently asking questions - in a working environment where everyone is very busy with their own work, and that is mostly remote, it can be challenging to receive the answers you need in a timely fashion while trying to learn and work, so advocating for myself became crucial to my success</a:t>
            </a:r>
            <a:endParaRPr sz="1360">
              <a:highlight>
                <a:schemeClr val="l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60"/>
              <a:buFont typeface="Roboto Mono"/>
              <a:buChar char="●"/>
            </a:pPr>
            <a:r>
              <a:rPr lang="en" sz="1360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Verizon’s adoption of Agile methodology is still new (not all teams use it, but mine does) and as a result, has been a learning experience for myself and even seasoned Verizon employees - I’ve learned a lot about Agile through observing/participating in meetings such as the </a:t>
            </a:r>
            <a:r>
              <a:rPr lang="en" sz="1360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daily stand-ups, user story grooming calls, technical discussions, retrospectives, etc.</a:t>
            </a:r>
            <a:endParaRPr sz="1360">
              <a:highlight>
                <a:schemeClr val="l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60"/>
              <a:buFont typeface="Roboto Mono"/>
              <a:buChar char="●"/>
            </a:pPr>
            <a:r>
              <a:rPr lang="en" sz="1360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Both in Multiverse projects and my work with Verizon I’ve gained more confidence in my ability to troubleshoot and do research for solutions to any blockers I may face</a:t>
            </a:r>
            <a:endParaRPr sz="1360">
              <a:highlight>
                <a:schemeClr val="l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60"/>
              <a:buFont typeface="Roboto Mono"/>
              <a:buChar char="●"/>
            </a:pPr>
            <a:r>
              <a:rPr lang="en" sz="1360"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Through my work with Multiverse/Verizon I’ve been able to better determine my own interests and future career goals</a:t>
            </a:r>
            <a:endParaRPr sz="1360">
              <a:highlight>
                <a:schemeClr val="l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